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Sheet1!$A$2:$A$8</c:f>
              <c:strCache>
                <c:ptCount val="7"/>
                <c:pt idx="0">
                  <c:v>Planif. 1-3 mois</c:v>
                </c:pt>
                <c:pt idx="1">
                  <c:v>Exéc. 1-3 mois</c:v>
                </c:pt>
                <c:pt idx="2">
                  <c:v>Approb. Avis</c:v>
                </c:pt>
                <c:pt idx="3">
                  <c:v>OT Confirmé</c:v>
                </c:pt>
                <c:pt idx="4">
                  <c:v>Taux Réal. Correctif</c:v>
                </c:pt>
                <c:pt idx="5">
                  <c:v>Perf. Inspection</c:v>
                </c:pt>
                <c:pt idx="6">
                  <c:v>Perf. Systématiques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20</c:v>
                </c:pt>
                <c:pt idx="6">
                  <c:v>54</c:v>
                </c:pt>
              </c:numCache>
            </c:numRef>
          </c:val>
        </c:ser>
        <c:dLbls>
          <c:txPr>
            <a:bodyPr/>
            <a:lstStyle/>
            <a:p>
              <a:pPr>
                <a:defRPr sz="68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680">
                <a:solidFill>
                  <a:srgbClr val="1E29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SF1-ECU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Arial"/>
              </a:rPr>
              <a:t>Rapport KPI Performance &amp; Qualité — SAP PM OCP  •  14/08/2026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05256"/>
            <a:ext cx="5943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Arial"/>
              </a:rPr>
              <a:t>Généré automatiquement depuis l'application https://tableaubordmc.streamlit.app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SCORE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Arial"/>
              </a:rPr>
              <a:t>100.0%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Arial"/>
              </a:rPr>
              <a:t>100.0%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118872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60152" y="155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rial"/>
              </a:rPr>
              <a:t>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0152" y="3474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Arial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02412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Arial"/>
              </a:rPr>
              <a:t>INDICATEURS DE PERFORMANCE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1261872"/>
          <a:ext cx="3794758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436"/>
                <a:gridCol w="607161"/>
                <a:gridCol w="607161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Val.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Cible</a:t>
                      </a:r>
                    </a:p>
                  </a:txBody>
                  <a:tcPr anchor="ctr" marL="18288" marR="18288" marT="0" marB="0">
                    <a:solidFill>
                      <a:srgbClr val="05966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TAUX_REALISATION_CORRECTIF/PT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préparation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planification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&lt;1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≤15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exécution &gt;3 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≤5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Graissage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Inspection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Performance Systématiques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≥85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97680" y="102412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rial"/>
              </a:rPr>
              <a:t>INDICATEURS DE QUALITÉ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297680" y="1261872"/>
          <a:ext cx="3794758" cy="152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436"/>
                <a:gridCol w="607161"/>
                <a:gridCol w="607161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Val.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Cible</a:t>
                      </a:r>
                    </a:p>
                  </a:txBody>
                  <a:tcPr anchor="ctr" marL="18288" marR="18288" marT="0" marB="0">
                    <a:solidFill>
                      <a:srgbClr val="2563EB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Taux d'approbation des Avis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≥95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LANC ESTIME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Backlog préparation caractérisé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Backlog planification caractérisé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CONFIME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OT_COR_EGAL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OT Fiabilité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E293B"/>
                          </a:solidFill>
                          <a:latin typeface="Arial"/>
                        </a:rPr>
                        <a:t>Total Avis de Panne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≥100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366760" y="102412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rial"/>
              </a:rPr>
              <a:t>ANOMALIES PAR INDICATEUR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366760" y="1261872"/>
          <a:ext cx="35204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366760" y="466344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Arial"/>
              </a:rPr>
              <a:t>SUIVI D'ÉVOLUTION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892040"/>
            <a:ext cx="3520440" cy="1691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983480"/>
            <a:ext cx="3291840" cy="1508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Performance : 100.0%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Qualité : 100.0%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EF4444"/>
                </a:solidFill>
                <a:latin typeface="Arial"/>
              </a:rPr>
              <a:t>●  </a:t>
            </a:r>
            <a:r>
              <a:rPr sz="1000" b="1">
                <a:solidFill>
                  <a:srgbClr val="1E293B"/>
                </a:solidFill>
                <a:latin typeface="Arial"/>
              </a:rPr>
              <a:t>Anomalies : 89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 seule date enregistrée — tendance disponible dès la 2e extraction.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160520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Arial"/>
              </a:rPr>
              <a:t>PLAN D'ACTION — TOUS LES INDICATEURS EN ANOMALIE (7)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4407408"/>
          <a:ext cx="77724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777240"/>
                <a:gridCol w="960120"/>
                <a:gridCol w="3657600"/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Indicateur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Écart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Nécessité action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anchor="ctr" marL="18288" marR="18288" marT="0" marB="0">
                    <a:solidFill>
                      <a:srgbClr val="1E3A5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Performance Systématiques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+14.1%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Ameliorer le taux de realisation des appels systematiques (TW=360).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Performance Inspection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+4.1%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Ameliorer le taux de realisation des OT d inspection (TW=290/300/310).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TAUX_REALISATION_CORRECTIF/PT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+12.0%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Ameliorer le taux de realisation des OT correctifs.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OT exécution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+11.1%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Reduire les OT en execution entre 1 et 3 mois.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Taux d'approbation des Avis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+1.2%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Chef d'atelier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Approuver les avis en attente (statut APRQ).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OT CONFIME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EF4444"/>
                          </a:solidFill>
                          <a:latin typeface="Arial"/>
                        </a:rPr>
                        <a:t>-0.1%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anchor="ctr" marL="18288" marR="18288" marT="0" marB="0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Agent de saisie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Confirmer les OT termines (statut CONF).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1E293B"/>
                          </a:solidFill>
                          <a:latin typeface="Arial"/>
                        </a:rPr>
                        <a:t>OT planification 1mois&lt; &lt;3mois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80" b="1">
                          <a:solidFill>
                            <a:srgbClr val="10B981"/>
                          </a:solidFill>
                          <a:latin typeface="Arial"/>
                        </a:rPr>
                        <a:t>+13.3%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anchor="ctr" marL="18288" marR="18288" marT="0" marB="0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Arial"/>
                        </a:rPr>
                        <a:t>Planificateur BM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64748B"/>
                          </a:solidFill>
                          <a:latin typeface="Arial"/>
                        </a:rPr>
                        <a:t>Reduire les OT en planification entre 1 et 3 mois.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