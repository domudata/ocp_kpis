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Anomalies</c:v>
                </c:pt>
              </c:strCache>
            </c:strRef>
          </c:tx>
          <c:spPr>
            <a:solidFill>
              <a:srgbClr val="2563EB"/>
            </a:solidFill>
          </c:spPr>
          <c:cat>
            <c:strRef>
              <c:f>Sheet1!$A$2:$A$8</c:f>
              <c:strCache>
                <c:ptCount val="7"/>
                <c:pt idx="0">
                  <c:v>Planif. 1-3 mois</c:v>
                </c:pt>
                <c:pt idx="1">
                  <c:v>Exéc. 1-3 mois</c:v>
                </c:pt>
                <c:pt idx="2">
                  <c:v>Approb. Avis</c:v>
                </c:pt>
                <c:pt idx="3">
                  <c:v>OT Confirmé</c:v>
                </c:pt>
                <c:pt idx="4">
                  <c:v>Taux Réal. Correctif</c:v>
                </c:pt>
                <c:pt idx="5">
                  <c:v>Perf. Inspection</c:v>
                </c:pt>
                <c:pt idx="6">
                  <c:v>Perf. Systématiques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</c:v>
                </c:pt>
                <c:pt idx="1">
                  <c:v>3</c:v>
                </c:pt>
                <c:pt idx="2">
                  <c:v>3</c:v>
                </c:pt>
                <c:pt idx="3">
                  <c:v>3</c:v>
                </c:pt>
                <c:pt idx="4">
                  <c:v>5</c:v>
                </c:pt>
                <c:pt idx="5">
                  <c:v>20</c:v>
                </c:pt>
                <c:pt idx="6">
                  <c:v>54</c:v>
                </c:pt>
              </c:numCache>
            </c:numRef>
          </c:val>
        </c:ser>
        <c:dLbls>
          <c:txPr>
            <a:bodyPr/>
            <a:lstStyle/>
            <a:p>
              <a:pPr>
                <a:defRPr sz="680">
                  <a:solidFill>
                    <a:srgbClr val="1E293B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2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680">
                <a:solidFill>
                  <a:srgbClr val="1E293B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Arial"/>
              </a:rPr>
              <a:t>SF1-ECU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4864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CBD5E1"/>
                </a:solidFill>
                <a:latin typeface="Arial"/>
              </a:rPr>
              <a:t>Rapport KPI Performance &amp; Qualité — SAP PM OCP  •  14/08/2026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905256"/>
            <a:ext cx="5943600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 i="1">
                <a:solidFill>
                  <a:srgbClr val="94A3B8"/>
                </a:solidFill>
                <a:latin typeface="Arial"/>
              </a:rPr>
              <a:t>Généré automatiquement depuis l'application https://tableaubordmc.streamlit.app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55080" y="118872"/>
            <a:ext cx="1874519" cy="6400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28232" y="155448"/>
            <a:ext cx="1737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64748B"/>
                </a:solidFill>
                <a:latin typeface="Arial"/>
              </a:rPr>
              <a:t>SCORE PERFORMANCE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28232" y="347472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10B981"/>
                </a:solidFill>
                <a:latin typeface="Arial"/>
              </a:rPr>
              <a:t>100.0%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321040" y="118872"/>
            <a:ext cx="1874519" cy="6400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94192" y="155448"/>
            <a:ext cx="1737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64748B"/>
                </a:solidFill>
                <a:latin typeface="Arial"/>
              </a:rPr>
              <a:t>SCORE QUALITÉ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94192" y="347472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10B981"/>
                </a:solidFill>
                <a:latin typeface="Arial"/>
              </a:rPr>
              <a:t>100.0%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287000" y="118872"/>
            <a:ext cx="1874519" cy="6400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360152" y="155448"/>
            <a:ext cx="1737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64748B"/>
                </a:solidFill>
                <a:latin typeface="Arial"/>
              </a:rPr>
              <a:t>ANOMALIES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60152" y="347472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F4444"/>
                </a:solidFill>
                <a:latin typeface="Arial"/>
              </a:rPr>
              <a:t>89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" y="1024128"/>
            <a:ext cx="37947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059669"/>
                </a:solidFill>
                <a:latin typeface="Arial"/>
              </a:rPr>
              <a:t>INDICATEURS DE PERFORMANCE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320040" y="1261872"/>
          <a:ext cx="3794758" cy="2368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80436"/>
                <a:gridCol w="607161"/>
                <a:gridCol w="607161"/>
              </a:tblGrid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Indicateur</a:t>
                      </a:r>
                    </a:p>
                  </a:txBody>
                  <a:tcPr anchor="ctr" marL="18288" marR="18288" marT="0" marB="0">
                    <a:solidFill>
                      <a:srgbClr val="05966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Val.</a:t>
                      </a:r>
                    </a:p>
                  </a:txBody>
                  <a:tcPr anchor="ctr" marL="18288" marR="18288" marT="0" marB="0">
                    <a:solidFill>
                      <a:srgbClr val="05966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Cible</a:t>
                      </a:r>
                    </a:p>
                  </a:txBody>
                  <a:tcPr anchor="ctr" marL="18288" marR="18288" marT="0" marB="0">
                    <a:solidFill>
                      <a:srgbClr val="059669"/>
                    </a:solidFill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30" b="0">
                          <a:solidFill>
                            <a:srgbClr val="1E293B"/>
                          </a:solidFill>
                          <a:latin typeface="Arial"/>
                        </a:rPr>
                        <a:t>TAUX_REALISATION_CORRECTIF/PT</a:t>
                      </a:r>
                    </a:p>
                  </a:txBody>
                  <a:tcPr anchor="ctr"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30" b="1">
                          <a:solidFill>
                            <a:srgbClr val="FFFFFF"/>
                          </a:solidFill>
                          <a:latin typeface="Arial"/>
                        </a:rPr>
                        <a:t>97%</a:t>
                      </a:r>
                    </a:p>
                  </a:txBody>
                  <a:tcPr anchor="ctr" marL="18288" marR="18288" marT="0" marB="0">
                    <a:solidFill>
                      <a:srgbClr val="10B98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64748B"/>
                          </a:solidFill>
                          <a:latin typeface="Arial"/>
                        </a:rPr>
                        <a:t>≥85</a:t>
                      </a:r>
                    </a:p>
                  </a:txBody>
                  <a:tcPr anchor="ctr" marL="18288" marR="18288" marT="0" marB="0">
                    <a:solidFill>
                      <a:srgbClr val="FFFFFF"/>
                    </a:solidFill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30" b="0">
                          <a:solidFill>
                            <a:srgbClr val="1E293B"/>
                          </a:solidFill>
                          <a:latin typeface="Arial"/>
                        </a:rPr>
                        <a:t>OT préparation &lt;1 mois</a:t>
                      </a:r>
                    </a:p>
                  </a:txBody>
                  <a:tcPr anchor="ctr"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30" b="1">
                          <a:solidFill>
                            <a:srgbClr val="FFFFFF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 anchor="ctr" marL="18288" marR="18288" marT="0" marB="0">
                    <a:solidFill>
                      <a:srgbClr val="10B98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64748B"/>
                          </a:solidFill>
                          <a:latin typeface="Arial"/>
                        </a:rPr>
                        <a:t>≥80</a:t>
                      </a:r>
                    </a:p>
                  </a:txBody>
                  <a:tcPr anchor="ctr" marL="18288" marR="18288" marT="0" marB="0">
                    <a:solidFill>
                      <a:srgbClr val="FFFFFF"/>
                    </a:solidFill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30" b="0">
                          <a:solidFill>
                            <a:srgbClr val="1E293B"/>
                          </a:solidFill>
                          <a:latin typeface="Arial"/>
                        </a:rPr>
                        <a:t>OT préparation 1mois&lt; &lt;3mois</a:t>
                      </a:r>
                    </a:p>
                  </a:txBody>
                  <a:tcPr anchor="ctr"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30" b="1">
                          <a:solidFill>
                            <a:srgbClr val="FFFFFF"/>
                          </a:solidFill>
                          <a:latin typeface="Arial"/>
                        </a:rPr>
                        <a:t>0%</a:t>
                      </a:r>
                    </a:p>
                  </a:txBody>
                  <a:tcPr anchor="ctr" marL="18288" marR="18288" marT="0" marB="0">
                    <a:solidFill>
                      <a:srgbClr val="10B98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64748B"/>
                          </a:solidFill>
                          <a:latin typeface="Arial"/>
                        </a:rPr>
                        <a:t>≤15</a:t>
                      </a:r>
                    </a:p>
                  </a:txBody>
                  <a:tcPr anchor="ctr" marL="18288" marR="18288" marT="0" marB="0">
                    <a:solidFill>
                      <a:srgbClr val="FFFFFF"/>
                    </a:solidFill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30" b="0">
                          <a:solidFill>
                            <a:srgbClr val="1E293B"/>
                          </a:solidFill>
                          <a:latin typeface="Arial"/>
                        </a:rPr>
                        <a:t>OT préparation &gt;3 mois</a:t>
                      </a:r>
                    </a:p>
                  </a:txBody>
                  <a:tcPr anchor="ctr"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30" b="1">
                          <a:solidFill>
                            <a:srgbClr val="FFFFFF"/>
                          </a:solidFill>
                          <a:latin typeface="Arial"/>
                        </a:rPr>
                        <a:t>0%</a:t>
                      </a:r>
                    </a:p>
                  </a:txBody>
                  <a:tcPr anchor="ctr" marL="18288" marR="18288" marT="0" marB="0">
                    <a:solidFill>
                      <a:srgbClr val="10B98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64748B"/>
                          </a:solidFill>
                          <a:latin typeface="Arial"/>
                        </a:rPr>
                        <a:t>≤5</a:t>
                      </a:r>
                    </a:p>
                  </a:txBody>
                  <a:tcPr anchor="ctr" marL="18288" marR="18288" marT="0" marB="0">
                    <a:solidFill>
                      <a:srgbClr val="FFFFFF"/>
                    </a:solidFill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30" b="0">
                          <a:solidFill>
                            <a:srgbClr val="1E293B"/>
                          </a:solidFill>
                          <a:latin typeface="Arial"/>
                        </a:rPr>
                        <a:t>OT planification &lt;1 mois</a:t>
                      </a:r>
                    </a:p>
                  </a:txBody>
                  <a:tcPr anchor="ctr"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30" b="1">
                          <a:solidFill>
                            <a:srgbClr val="FFFFFF"/>
                          </a:solidFill>
                          <a:latin typeface="Arial"/>
                        </a:rPr>
                        <a:t>98%</a:t>
                      </a:r>
                    </a:p>
                  </a:txBody>
                  <a:tcPr anchor="ctr" marL="18288" marR="18288" marT="0" marB="0">
                    <a:solidFill>
                      <a:srgbClr val="10B98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64748B"/>
                          </a:solidFill>
                          <a:latin typeface="Arial"/>
                        </a:rPr>
                        <a:t>≥80</a:t>
                      </a:r>
                    </a:p>
                  </a:txBody>
                  <a:tcPr anchor="ctr" marL="18288" marR="18288" marT="0" marB="0">
                    <a:solidFill>
                      <a:srgbClr val="FFFFFF"/>
                    </a:solidFill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30" b="0">
                          <a:solidFill>
                            <a:srgbClr val="1E293B"/>
                          </a:solidFill>
                          <a:latin typeface="Arial"/>
                        </a:rPr>
                        <a:t>OT planification 1mois&lt; &lt;3mois</a:t>
                      </a:r>
                    </a:p>
                  </a:txBody>
                  <a:tcPr anchor="ctr"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30" b="1">
                          <a:solidFill>
                            <a:srgbClr val="FFFFFF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anchor="ctr" marL="18288" marR="18288" marT="0" marB="0">
                    <a:solidFill>
                      <a:srgbClr val="10B98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64748B"/>
                          </a:solidFill>
                          <a:latin typeface="Arial"/>
                        </a:rPr>
                        <a:t>≤15</a:t>
                      </a:r>
                    </a:p>
                  </a:txBody>
                  <a:tcPr anchor="ctr" marL="18288" marR="18288" marT="0" marB="0">
                    <a:solidFill>
                      <a:srgbClr val="FFFFFF"/>
                    </a:solidFill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30" b="0">
                          <a:solidFill>
                            <a:srgbClr val="1E293B"/>
                          </a:solidFill>
                          <a:latin typeface="Arial"/>
                        </a:rPr>
                        <a:t>OT planification &gt;3 mois</a:t>
                      </a:r>
                    </a:p>
                  </a:txBody>
                  <a:tcPr anchor="ctr"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30" b="1">
                          <a:solidFill>
                            <a:srgbClr val="FFFFFF"/>
                          </a:solidFill>
                          <a:latin typeface="Arial"/>
                        </a:rPr>
                        <a:t>0%</a:t>
                      </a:r>
                    </a:p>
                  </a:txBody>
                  <a:tcPr anchor="ctr" marL="18288" marR="18288" marT="0" marB="0">
                    <a:solidFill>
                      <a:srgbClr val="10B98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64748B"/>
                          </a:solidFill>
                          <a:latin typeface="Arial"/>
                        </a:rPr>
                        <a:t>≤5</a:t>
                      </a:r>
                    </a:p>
                  </a:txBody>
                  <a:tcPr anchor="ctr" marL="18288" marR="18288" marT="0" marB="0">
                    <a:solidFill>
                      <a:srgbClr val="FFFFFF"/>
                    </a:solidFill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30" b="0">
                          <a:solidFill>
                            <a:srgbClr val="1E293B"/>
                          </a:solidFill>
                          <a:latin typeface="Arial"/>
                        </a:rPr>
                        <a:t>OT exécution &lt;1 mois</a:t>
                      </a:r>
                    </a:p>
                  </a:txBody>
                  <a:tcPr anchor="ctr"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30" b="1">
                          <a:solidFill>
                            <a:srgbClr val="FFFFFF"/>
                          </a:solidFill>
                          <a:latin typeface="Arial"/>
                        </a:rPr>
                        <a:t>96%</a:t>
                      </a:r>
                    </a:p>
                  </a:txBody>
                  <a:tcPr anchor="ctr" marL="18288" marR="18288" marT="0" marB="0">
                    <a:solidFill>
                      <a:srgbClr val="10B98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64748B"/>
                          </a:solidFill>
                          <a:latin typeface="Arial"/>
                        </a:rPr>
                        <a:t>≥80</a:t>
                      </a:r>
                    </a:p>
                  </a:txBody>
                  <a:tcPr anchor="ctr" marL="18288" marR="18288" marT="0" marB="0">
                    <a:solidFill>
                      <a:srgbClr val="FFFFFF"/>
                    </a:solidFill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30" b="0">
                          <a:solidFill>
                            <a:srgbClr val="1E293B"/>
                          </a:solidFill>
                          <a:latin typeface="Arial"/>
                        </a:rPr>
                        <a:t>OT exécution 1mois&lt; &lt;3mois</a:t>
                      </a:r>
                    </a:p>
                  </a:txBody>
                  <a:tcPr anchor="ctr"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30" b="1">
                          <a:solidFill>
                            <a:srgbClr val="FFFFFF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anchor="ctr" marL="18288" marR="18288" marT="0" marB="0">
                    <a:solidFill>
                      <a:srgbClr val="10B98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64748B"/>
                          </a:solidFill>
                          <a:latin typeface="Arial"/>
                        </a:rPr>
                        <a:t>≤15</a:t>
                      </a:r>
                    </a:p>
                  </a:txBody>
                  <a:tcPr anchor="ctr" marL="18288" marR="18288" marT="0" marB="0">
                    <a:solidFill>
                      <a:srgbClr val="FFFFFF"/>
                    </a:solidFill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30" b="0">
                          <a:solidFill>
                            <a:srgbClr val="1E293B"/>
                          </a:solidFill>
                          <a:latin typeface="Arial"/>
                        </a:rPr>
                        <a:t>OT exécution &gt;3 mois</a:t>
                      </a:r>
                    </a:p>
                  </a:txBody>
                  <a:tcPr anchor="ctr"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30" b="1">
                          <a:solidFill>
                            <a:srgbClr val="FFFFFF"/>
                          </a:solidFill>
                          <a:latin typeface="Arial"/>
                        </a:rPr>
                        <a:t>0%</a:t>
                      </a:r>
                    </a:p>
                  </a:txBody>
                  <a:tcPr anchor="ctr" marL="18288" marR="18288" marT="0" marB="0">
                    <a:solidFill>
                      <a:srgbClr val="10B98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64748B"/>
                          </a:solidFill>
                          <a:latin typeface="Arial"/>
                        </a:rPr>
                        <a:t>≤5</a:t>
                      </a:r>
                    </a:p>
                  </a:txBody>
                  <a:tcPr anchor="ctr" marL="18288" marR="18288" marT="0" marB="0">
                    <a:solidFill>
                      <a:srgbClr val="FFFFFF"/>
                    </a:solidFill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30" b="0">
                          <a:solidFill>
                            <a:srgbClr val="1E293B"/>
                          </a:solidFill>
                          <a:latin typeface="Arial"/>
                        </a:rPr>
                        <a:t>Performance Graissage</a:t>
                      </a:r>
                    </a:p>
                  </a:txBody>
                  <a:tcPr anchor="ctr"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30" b="1">
                          <a:solidFill>
                            <a:srgbClr val="FFFFFF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 anchor="ctr" marL="18288" marR="18288" marT="0" marB="0">
                    <a:solidFill>
                      <a:srgbClr val="10B98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64748B"/>
                          </a:solidFill>
                          <a:latin typeface="Arial"/>
                        </a:rPr>
                        <a:t>≥95</a:t>
                      </a:r>
                    </a:p>
                  </a:txBody>
                  <a:tcPr anchor="ctr" marL="18288" marR="18288" marT="0" marB="0">
                    <a:solidFill>
                      <a:srgbClr val="FFFFFF"/>
                    </a:solidFill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30" b="0">
                          <a:solidFill>
                            <a:srgbClr val="1E293B"/>
                          </a:solidFill>
                          <a:latin typeface="Arial"/>
                        </a:rPr>
                        <a:t>Performance Inspection</a:t>
                      </a:r>
                    </a:p>
                  </a:txBody>
                  <a:tcPr anchor="ctr"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30" b="1">
                          <a:solidFill>
                            <a:srgbClr val="FFFFFF"/>
                          </a:solidFill>
                          <a:latin typeface="Arial"/>
                        </a:rPr>
                        <a:t>99%</a:t>
                      </a:r>
                    </a:p>
                  </a:txBody>
                  <a:tcPr anchor="ctr" marL="18288" marR="18288" marT="0" marB="0">
                    <a:solidFill>
                      <a:srgbClr val="10B98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64748B"/>
                          </a:solidFill>
                          <a:latin typeface="Arial"/>
                        </a:rPr>
                        <a:t>≥95</a:t>
                      </a:r>
                    </a:p>
                  </a:txBody>
                  <a:tcPr anchor="ctr" marL="18288" marR="18288" marT="0" marB="0">
                    <a:solidFill>
                      <a:srgbClr val="FFFFFF"/>
                    </a:solidFill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30" b="0">
                          <a:solidFill>
                            <a:srgbClr val="1E293B"/>
                          </a:solidFill>
                          <a:latin typeface="Arial"/>
                        </a:rPr>
                        <a:t>Performance Systématiques</a:t>
                      </a:r>
                    </a:p>
                  </a:txBody>
                  <a:tcPr anchor="ctr"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30" b="1">
                          <a:solidFill>
                            <a:srgbClr val="FFFFFF"/>
                          </a:solidFill>
                          <a:latin typeface="Arial"/>
                        </a:rPr>
                        <a:t>99%</a:t>
                      </a:r>
                    </a:p>
                  </a:txBody>
                  <a:tcPr anchor="ctr" marL="18288" marR="18288" marT="0" marB="0">
                    <a:solidFill>
                      <a:srgbClr val="10B98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64748B"/>
                          </a:solidFill>
                          <a:latin typeface="Arial"/>
                        </a:rPr>
                        <a:t>≥85</a:t>
                      </a:r>
                    </a:p>
                  </a:txBody>
                  <a:tcPr anchor="ctr"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4297680" y="1024128"/>
            <a:ext cx="37947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2563EB"/>
                </a:solidFill>
                <a:latin typeface="Arial"/>
              </a:rPr>
              <a:t>INDICATEURS DE QUALITÉ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4297680" y="1261872"/>
          <a:ext cx="3794758" cy="15224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80436"/>
                <a:gridCol w="607161"/>
                <a:gridCol w="607161"/>
              </a:tblGrid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Indicateur</a:t>
                      </a:r>
                    </a:p>
                  </a:txBody>
                  <a:tcPr anchor="ctr" marL="18288" marR="18288" marT="0" marB="0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Val.</a:t>
                      </a:r>
                    </a:p>
                  </a:txBody>
                  <a:tcPr anchor="ctr" marL="18288" marR="18288" marT="0" marB="0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Cible</a:t>
                      </a:r>
                    </a:p>
                  </a:txBody>
                  <a:tcPr anchor="ctr" marL="18288" marR="18288" marT="0" marB="0">
                    <a:solidFill>
                      <a:srgbClr val="2563EB"/>
                    </a:solidFill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30" b="0">
                          <a:solidFill>
                            <a:srgbClr val="1E293B"/>
                          </a:solidFill>
                          <a:latin typeface="Arial"/>
                        </a:rPr>
                        <a:t>Taux d'approbation des Avis</a:t>
                      </a:r>
                    </a:p>
                  </a:txBody>
                  <a:tcPr anchor="ctr"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30" b="1">
                          <a:solidFill>
                            <a:srgbClr val="FFFFFF"/>
                          </a:solidFill>
                          <a:latin typeface="Arial"/>
                        </a:rPr>
                        <a:t>96%</a:t>
                      </a:r>
                    </a:p>
                  </a:txBody>
                  <a:tcPr anchor="ctr" marL="18288" marR="18288" marT="0" marB="0">
                    <a:solidFill>
                      <a:srgbClr val="10B98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64748B"/>
                          </a:solidFill>
                          <a:latin typeface="Arial"/>
                        </a:rPr>
                        <a:t>≥95</a:t>
                      </a:r>
                    </a:p>
                  </a:txBody>
                  <a:tcPr anchor="ctr" marL="18288" marR="18288" marT="0" marB="0">
                    <a:solidFill>
                      <a:srgbClr val="FFFFFF"/>
                    </a:solidFill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30" b="0">
                          <a:solidFill>
                            <a:srgbClr val="1E293B"/>
                          </a:solidFill>
                          <a:latin typeface="Arial"/>
                        </a:rPr>
                        <a:t>OT LANC ESTIME</a:t>
                      </a:r>
                    </a:p>
                  </a:txBody>
                  <a:tcPr anchor="ctr"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30" b="1">
                          <a:solidFill>
                            <a:srgbClr val="FFFFFF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 anchor="ctr" marL="18288" marR="18288" marT="0" marB="0">
                    <a:solidFill>
                      <a:srgbClr val="10B98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64748B"/>
                          </a:solidFill>
                          <a:latin typeface="Arial"/>
                        </a:rPr>
                        <a:t>≥100</a:t>
                      </a:r>
                    </a:p>
                  </a:txBody>
                  <a:tcPr anchor="ctr" marL="18288" marR="18288" marT="0" marB="0">
                    <a:solidFill>
                      <a:srgbClr val="FFFFFF"/>
                    </a:solidFill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30" b="0">
                          <a:solidFill>
                            <a:srgbClr val="1E293B"/>
                          </a:solidFill>
                          <a:latin typeface="Arial"/>
                        </a:rPr>
                        <a:t>Backlog préparation caractérisé</a:t>
                      </a:r>
                    </a:p>
                  </a:txBody>
                  <a:tcPr anchor="ctr"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30" b="1">
                          <a:solidFill>
                            <a:srgbClr val="FFFFFF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 anchor="ctr" marL="18288" marR="18288" marT="0" marB="0">
                    <a:solidFill>
                      <a:srgbClr val="10B98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64748B"/>
                          </a:solidFill>
                          <a:latin typeface="Arial"/>
                        </a:rPr>
                        <a:t>≥100</a:t>
                      </a:r>
                    </a:p>
                  </a:txBody>
                  <a:tcPr anchor="ctr" marL="18288" marR="18288" marT="0" marB="0">
                    <a:solidFill>
                      <a:srgbClr val="FFFFFF"/>
                    </a:solidFill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30" b="0">
                          <a:solidFill>
                            <a:srgbClr val="1E293B"/>
                          </a:solidFill>
                          <a:latin typeface="Arial"/>
                        </a:rPr>
                        <a:t>Backlog planification caractérisé</a:t>
                      </a:r>
                    </a:p>
                  </a:txBody>
                  <a:tcPr anchor="ctr"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30" b="1">
                          <a:solidFill>
                            <a:srgbClr val="FFFFFF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 anchor="ctr" marL="18288" marR="18288" marT="0" marB="0">
                    <a:solidFill>
                      <a:srgbClr val="10B98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64748B"/>
                          </a:solidFill>
                          <a:latin typeface="Arial"/>
                        </a:rPr>
                        <a:t>≥100</a:t>
                      </a:r>
                    </a:p>
                  </a:txBody>
                  <a:tcPr anchor="ctr" marL="18288" marR="18288" marT="0" marB="0">
                    <a:solidFill>
                      <a:srgbClr val="FFFFFF"/>
                    </a:solidFill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30" b="0">
                          <a:solidFill>
                            <a:srgbClr val="1E293B"/>
                          </a:solidFill>
                          <a:latin typeface="Arial"/>
                        </a:rPr>
                        <a:t>OT CONFIME</a:t>
                      </a:r>
                    </a:p>
                  </a:txBody>
                  <a:tcPr anchor="ctr"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30" b="1">
                          <a:solidFill>
                            <a:srgbClr val="FFFFFF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 anchor="ctr" marL="18288" marR="18288" marT="0" marB="0">
                    <a:solidFill>
                      <a:srgbClr val="F59E0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64748B"/>
                          </a:solidFill>
                          <a:latin typeface="Arial"/>
                        </a:rPr>
                        <a:t>≥100</a:t>
                      </a:r>
                    </a:p>
                  </a:txBody>
                  <a:tcPr anchor="ctr" marL="18288" marR="18288" marT="0" marB="0">
                    <a:solidFill>
                      <a:srgbClr val="FFFFFF"/>
                    </a:solidFill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30" b="0">
                          <a:solidFill>
                            <a:srgbClr val="1E293B"/>
                          </a:solidFill>
                          <a:latin typeface="Arial"/>
                        </a:rPr>
                        <a:t>OT_COR_EGAL</a:t>
                      </a:r>
                    </a:p>
                  </a:txBody>
                  <a:tcPr anchor="ctr"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30" b="1">
                          <a:solidFill>
                            <a:srgbClr val="FFFFFF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 anchor="ctr" marL="18288" marR="18288" marT="0" marB="0">
                    <a:solidFill>
                      <a:srgbClr val="10B98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64748B"/>
                          </a:solidFill>
                          <a:latin typeface="Arial"/>
                        </a:rPr>
                        <a:t>≥100</a:t>
                      </a:r>
                    </a:p>
                  </a:txBody>
                  <a:tcPr anchor="ctr" marL="18288" marR="18288" marT="0" marB="0">
                    <a:solidFill>
                      <a:srgbClr val="FFFFFF"/>
                    </a:solidFill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30" b="0">
                          <a:solidFill>
                            <a:srgbClr val="1E293B"/>
                          </a:solidFill>
                          <a:latin typeface="Arial"/>
                        </a:rPr>
                        <a:t>OT Fiabilité</a:t>
                      </a:r>
                    </a:p>
                  </a:txBody>
                  <a:tcPr anchor="ctr"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30" b="1">
                          <a:solidFill>
                            <a:srgbClr val="FFFFFF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 anchor="ctr" marL="18288" marR="18288" marT="0" marB="0">
                    <a:solidFill>
                      <a:srgbClr val="10B98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64748B"/>
                          </a:solidFill>
                          <a:latin typeface="Arial"/>
                        </a:rPr>
                        <a:t>≥100</a:t>
                      </a:r>
                    </a:p>
                  </a:txBody>
                  <a:tcPr anchor="ctr" marL="18288" marR="18288" marT="0" marB="0">
                    <a:solidFill>
                      <a:srgbClr val="FFFFFF"/>
                    </a:solidFill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30" b="0">
                          <a:solidFill>
                            <a:srgbClr val="1E293B"/>
                          </a:solidFill>
                          <a:latin typeface="Arial"/>
                        </a:rPr>
                        <a:t>Total Avis de Panne</a:t>
                      </a:r>
                    </a:p>
                  </a:txBody>
                  <a:tcPr anchor="ctr"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30" b="1">
                          <a:solidFill>
                            <a:srgbClr val="FFFFFF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 anchor="ctr" marL="18288" marR="18288" marT="0" marB="0">
                    <a:solidFill>
                      <a:srgbClr val="10B98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64748B"/>
                          </a:solidFill>
                          <a:latin typeface="Arial"/>
                        </a:rPr>
                        <a:t>≥100</a:t>
                      </a:r>
                    </a:p>
                  </a:txBody>
                  <a:tcPr anchor="ctr"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8366760" y="1024128"/>
            <a:ext cx="35204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2563EB"/>
                </a:solidFill>
                <a:latin typeface="Arial"/>
              </a:rPr>
              <a:t>ANOMALIES PAR INDICATEUR</a:t>
            </a:r>
          </a:p>
        </p:txBody>
      </p:sp>
      <p:graphicFrame>
        <p:nvGraphicFramePr>
          <p:cNvPr id="20" name="Chart 19"/>
          <p:cNvGraphicFramePr>
            <a:graphicFrameLocks noGrp="1"/>
          </p:cNvGraphicFramePr>
          <p:nvPr/>
        </p:nvGraphicFramePr>
        <p:xfrm>
          <a:off x="8366760" y="1261872"/>
          <a:ext cx="352044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8366760" y="4663440"/>
            <a:ext cx="35204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E3A5F"/>
                </a:solidFill>
                <a:latin typeface="Arial"/>
              </a:rPr>
              <a:t>SUIVI D'ÉVOLUTION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66760" y="4892040"/>
            <a:ext cx="3520440" cy="1691640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0" y="4983480"/>
            <a:ext cx="3291840" cy="15087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400"/>
              </a:spcAft>
            </a:pPr>
            <a:r>
              <a:rPr sz="1000" b="1">
                <a:solidFill>
                  <a:srgbClr val="10B981"/>
                </a:solidFill>
                <a:latin typeface="Arial"/>
              </a:rPr>
              <a:t>●  </a:t>
            </a:r>
            <a:r>
              <a:rPr sz="1000" b="1">
                <a:solidFill>
                  <a:srgbClr val="1E293B"/>
                </a:solidFill>
                <a:latin typeface="Arial"/>
              </a:rPr>
              <a:t>Performance : 100.0%</a:t>
            </a: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2563EB"/>
                </a:solidFill>
                <a:latin typeface="Arial"/>
              </a:rPr>
              <a:t>●  </a:t>
            </a:r>
            <a:r>
              <a:rPr sz="1000" b="1">
                <a:solidFill>
                  <a:srgbClr val="1E293B"/>
                </a:solidFill>
                <a:latin typeface="Arial"/>
              </a:rPr>
              <a:t>Qualité : 100.0%</a:t>
            </a: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EF4444"/>
                </a:solidFill>
                <a:latin typeface="Arial"/>
              </a:rPr>
              <a:t>●  </a:t>
            </a:r>
            <a:r>
              <a:rPr sz="1000" b="1">
                <a:solidFill>
                  <a:srgbClr val="1E293B"/>
                </a:solidFill>
                <a:latin typeface="Arial"/>
              </a:rPr>
              <a:t>Anomalies : 89</a:t>
            </a:r>
          </a:p>
          <a:p>
            <a:pPr>
              <a:spcAft>
                <a:spcPts val="400"/>
              </a:spcAft>
            </a:pPr>
            <a:r>
              <a:rPr sz="600" b="0">
                <a:solidFill>
                  <a:srgbClr val="1E293B"/>
                </a:solidFill>
                <a:latin typeface="Arial"/>
              </a:rPr>
              <a:t/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64748B"/>
                </a:solidFill>
                <a:latin typeface="Arial"/>
              </a:rPr>
              <a:t>1 seule date enregistrée — tendance disponible dès la 2e extraction.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" y="4160520"/>
            <a:ext cx="7772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E3A5F"/>
                </a:solidFill>
                <a:latin typeface="Arial"/>
              </a:rPr>
              <a:t>PLAN D'ACTION — TOUS LES INDICATEURS EN ANOMALIE (7)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320040" y="4407408"/>
          <a:ext cx="7772400" cy="13533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548640"/>
                <a:gridCol w="777240"/>
                <a:gridCol w="960120"/>
                <a:gridCol w="3657600"/>
              </a:tblGrid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680" b="1">
                          <a:solidFill>
                            <a:srgbClr val="FFFFFF"/>
                          </a:solidFill>
                          <a:latin typeface="Arial"/>
                        </a:rPr>
                        <a:t>Indicateur</a:t>
                      </a:r>
                    </a:p>
                  </a:txBody>
                  <a:tcPr anchor="ctr" marL="18288" marR="18288" marT="0" marB="0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80" b="1">
                          <a:solidFill>
                            <a:srgbClr val="FFFFFF"/>
                          </a:solidFill>
                          <a:latin typeface="Arial"/>
                        </a:rPr>
                        <a:t>Écart</a:t>
                      </a:r>
                    </a:p>
                  </a:txBody>
                  <a:tcPr anchor="ctr" marL="18288" marR="18288" marT="0" marB="0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80" b="1">
                          <a:solidFill>
                            <a:srgbClr val="FFFFFF"/>
                          </a:solidFill>
                          <a:latin typeface="Arial"/>
                        </a:rPr>
                        <a:t>Nécessité action</a:t>
                      </a:r>
                    </a:p>
                  </a:txBody>
                  <a:tcPr anchor="ctr" marL="18288" marR="18288" marT="0" marB="0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80" b="1">
                          <a:solidFill>
                            <a:srgbClr val="FFFFFF"/>
                          </a:solidFill>
                          <a:latin typeface="Arial"/>
                        </a:rPr>
                        <a:t>Responsable</a:t>
                      </a:r>
                    </a:p>
                  </a:txBody>
                  <a:tcPr anchor="ctr" marL="18288" marR="18288" marT="0" marB="0"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80" b="1">
                          <a:solidFill>
                            <a:srgbClr val="FFFFFF"/>
                          </a:solidFill>
                          <a:latin typeface="Arial"/>
                        </a:rPr>
                        <a:t>Action</a:t>
                      </a:r>
                    </a:p>
                  </a:txBody>
                  <a:tcPr anchor="ctr" marL="18288" marR="18288" marT="0" marB="0">
                    <a:solidFill>
                      <a:srgbClr val="1E3A5F"/>
                    </a:solidFill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680" b="0">
                          <a:solidFill>
                            <a:srgbClr val="1E293B"/>
                          </a:solidFill>
                          <a:latin typeface="Arial"/>
                        </a:rPr>
                        <a:t>Performance Systématiques</a:t>
                      </a:r>
                    </a:p>
                  </a:txBody>
                  <a:tcPr anchor="ctr"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80" b="1">
                          <a:solidFill>
                            <a:srgbClr val="10B981"/>
                          </a:solidFill>
                          <a:latin typeface="Arial"/>
                        </a:rPr>
                        <a:t>+14.1%</a:t>
                      </a:r>
                    </a:p>
                  </a:txBody>
                  <a:tcPr anchor="ctr"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Non</a:t>
                      </a:r>
                    </a:p>
                  </a:txBody>
                  <a:tcPr anchor="ctr" marL="18288" marR="18288" marT="0" marB="0">
                    <a:solidFill>
                      <a:srgbClr val="10B98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60" b="0">
                          <a:solidFill>
                            <a:srgbClr val="1E293B"/>
                          </a:solidFill>
                          <a:latin typeface="Arial"/>
                        </a:rPr>
                        <a:t>Chef d'atelier</a:t>
                      </a:r>
                    </a:p>
                  </a:txBody>
                  <a:tcPr anchor="ctr"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00" b="0">
                          <a:solidFill>
                            <a:srgbClr val="64748B"/>
                          </a:solidFill>
                          <a:latin typeface="Arial"/>
                        </a:rPr>
                        <a:t>Ameliorer le taux de realisation des appels systematiques (TW=360).</a:t>
                      </a:r>
                    </a:p>
                  </a:txBody>
                  <a:tcPr anchor="ctr" marL="18288" marR="18288" marT="0" marB="0">
                    <a:solidFill>
                      <a:srgbClr val="FFFFFF"/>
                    </a:solidFill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680" b="0">
                          <a:solidFill>
                            <a:srgbClr val="1E293B"/>
                          </a:solidFill>
                          <a:latin typeface="Arial"/>
                        </a:rPr>
                        <a:t>Performance Inspection</a:t>
                      </a:r>
                    </a:p>
                  </a:txBody>
                  <a:tcPr anchor="ctr"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80" b="1">
                          <a:solidFill>
                            <a:srgbClr val="10B981"/>
                          </a:solidFill>
                          <a:latin typeface="Arial"/>
                        </a:rPr>
                        <a:t>+4.1%</a:t>
                      </a:r>
                    </a:p>
                  </a:txBody>
                  <a:tcPr anchor="ctr"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Non</a:t>
                      </a:r>
                    </a:p>
                  </a:txBody>
                  <a:tcPr anchor="ctr" marL="18288" marR="18288" marT="0" marB="0">
                    <a:solidFill>
                      <a:srgbClr val="10B98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60" b="0">
                          <a:solidFill>
                            <a:srgbClr val="1E293B"/>
                          </a:solidFill>
                          <a:latin typeface="Arial"/>
                        </a:rPr>
                        <a:t>Chef d'atelier</a:t>
                      </a:r>
                    </a:p>
                  </a:txBody>
                  <a:tcPr anchor="ctr"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00" b="0">
                          <a:solidFill>
                            <a:srgbClr val="64748B"/>
                          </a:solidFill>
                          <a:latin typeface="Arial"/>
                        </a:rPr>
                        <a:t>Ameliorer le taux de realisation des OT d inspection (TW=290/300/310).</a:t>
                      </a:r>
                    </a:p>
                  </a:txBody>
                  <a:tcPr anchor="ctr" marL="18288" marR="18288" marT="0" marB="0">
                    <a:solidFill>
                      <a:srgbClr val="FFFFFF"/>
                    </a:solidFill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680" b="0">
                          <a:solidFill>
                            <a:srgbClr val="1E293B"/>
                          </a:solidFill>
                          <a:latin typeface="Arial"/>
                        </a:rPr>
                        <a:t>TAUX_REALISATION_CORRECTIF/PT</a:t>
                      </a:r>
                    </a:p>
                  </a:txBody>
                  <a:tcPr anchor="ctr"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80" b="1">
                          <a:solidFill>
                            <a:srgbClr val="10B981"/>
                          </a:solidFill>
                          <a:latin typeface="Arial"/>
                        </a:rPr>
                        <a:t>+12.0%</a:t>
                      </a:r>
                    </a:p>
                  </a:txBody>
                  <a:tcPr anchor="ctr"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Non</a:t>
                      </a:r>
                    </a:p>
                  </a:txBody>
                  <a:tcPr anchor="ctr" marL="18288" marR="18288" marT="0" marB="0">
                    <a:solidFill>
                      <a:srgbClr val="10B98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60" b="0">
                          <a:solidFill>
                            <a:srgbClr val="1E293B"/>
                          </a:solidFill>
                          <a:latin typeface="Arial"/>
                        </a:rPr>
                        <a:t>Chef d'atelier</a:t>
                      </a:r>
                    </a:p>
                  </a:txBody>
                  <a:tcPr anchor="ctr"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00" b="0">
                          <a:solidFill>
                            <a:srgbClr val="64748B"/>
                          </a:solidFill>
                          <a:latin typeface="Arial"/>
                        </a:rPr>
                        <a:t>Ameliorer le taux de realisation des OT correctifs.</a:t>
                      </a:r>
                    </a:p>
                  </a:txBody>
                  <a:tcPr anchor="ctr" marL="18288" marR="18288" marT="0" marB="0">
                    <a:solidFill>
                      <a:srgbClr val="FFFFFF"/>
                    </a:solidFill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680" b="0">
                          <a:solidFill>
                            <a:srgbClr val="1E293B"/>
                          </a:solidFill>
                          <a:latin typeface="Arial"/>
                        </a:rPr>
                        <a:t>OT exécution 1mois&lt; &lt;3mois</a:t>
                      </a:r>
                    </a:p>
                  </a:txBody>
                  <a:tcPr anchor="ctr"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80" b="1">
                          <a:solidFill>
                            <a:srgbClr val="10B981"/>
                          </a:solidFill>
                          <a:latin typeface="Arial"/>
                        </a:rPr>
                        <a:t>+11.1%</a:t>
                      </a:r>
                    </a:p>
                  </a:txBody>
                  <a:tcPr anchor="ctr"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Non</a:t>
                      </a:r>
                    </a:p>
                  </a:txBody>
                  <a:tcPr anchor="ctr" marL="18288" marR="18288" marT="0" marB="0">
                    <a:solidFill>
                      <a:srgbClr val="10B98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60" b="0">
                          <a:solidFill>
                            <a:srgbClr val="1E293B"/>
                          </a:solidFill>
                          <a:latin typeface="Arial"/>
                        </a:rPr>
                        <a:t>Chef d'atelier</a:t>
                      </a:r>
                    </a:p>
                  </a:txBody>
                  <a:tcPr anchor="ctr"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00" b="0">
                          <a:solidFill>
                            <a:srgbClr val="64748B"/>
                          </a:solidFill>
                          <a:latin typeface="Arial"/>
                        </a:rPr>
                        <a:t>Reduire les OT en execution entre 1 et 3 mois.</a:t>
                      </a:r>
                    </a:p>
                  </a:txBody>
                  <a:tcPr anchor="ctr" marL="18288" marR="18288" marT="0" marB="0">
                    <a:solidFill>
                      <a:srgbClr val="FFFFFF"/>
                    </a:solidFill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680" b="0">
                          <a:solidFill>
                            <a:srgbClr val="1E293B"/>
                          </a:solidFill>
                          <a:latin typeface="Arial"/>
                        </a:rPr>
                        <a:t>Taux d'approbation des Avis</a:t>
                      </a:r>
                    </a:p>
                  </a:txBody>
                  <a:tcPr anchor="ctr"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80" b="1">
                          <a:solidFill>
                            <a:srgbClr val="10B981"/>
                          </a:solidFill>
                          <a:latin typeface="Arial"/>
                        </a:rPr>
                        <a:t>+1.2%</a:t>
                      </a:r>
                    </a:p>
                  </a:txBody>
                  <a:tcPr anchor="ctr"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Non</a:t>
                      </a:r>
                    </a:p>
                  </a:txBody>
                  <a:tcPr anchor="ctr" marL="18288" marR="18288" marT="0" marB="0">
                    <a:solidFill>
                      <a:srgbClr val="10B98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60" b="0">
                          <a:solidFill>
                            <a:srgbClr val="1E293B"/>
                          </a:solidFill>
                          <a:latin typeface="Arial"/>
                        </a:rPr>
                        <a:t>Chef d'atelier</a:t>
                      </a:r>
                    </a:p>
                  </a:txBody>
                  <a:tcPr anchor="ctr"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00" b="0">
                          <a:solidFill>
                            <a:srgbClr val="64748B"/>
                          </a:solidFill>
                          <a:latin typeface="Arial"/>
                        </a:rPr>
                        <a:t>Approuver les avis en attente (statut APRQ).</a:t>
                      </a:r>
                    </a:p>
                  </a:txBody>
                  <a:tcPr anchor="ctr" marL="18288" marR="18288" marT="0" marB="0">
                    <a:solidFill>
                      <a:srgbClr val="FFFFFF"/>
                    </a:solidFill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680" b="0">
                          <a:solidFill>
                            <a:srgbClr val="1E293B"/>
                          </a:solidFill>
                          <a:latin typeface="Arial"/>
                        </a:rPr>
                        <a:t>OT CONFIME</a:t>
                      </a:r>
                    </a:p>
                  </a:txBody>
                  <a:tcPr anchor="ctr"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80" b="1">
                          <a:solidFill>
                            <a:srgbClr val="EF4444"/>
                          </a:solidFill>
                          <a:latin typeface="Arial"/>
                        </a:rPr>
                        <a:t>-0.1%</a:t>
                      </a:r>
                    </a:p>
                  </a:txBody>
                  <a:tcPr anchor="ctr"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Oui</a:t>
                      </a:r>
                    </a:p>
                  </a:txBody>
                  <a:tcPr anchor="ctr" marL="18288" marR="18288" marT="0" marB="0">
                    <a:solidFill>
                      <a:srgbClr val="EF44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60" b="0">
                          <a:solidFill>
                            <a:srgbClr val="1E293B"/>
                          </a:solidFill>
                          <a:latin typeface="Arial"/>
                        </a:rPr>
                        <a:t>Agent de saisie</a:t>
                      </a:r>
                    </a:p>
                  </a:txBody>
                  <a:tcPr anchor="ctr"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00" b="0">
                          <a:solidFill>
                            <a:srgbClr val="64748B"/>
                          </a:solidFill>
                          <a:latin typeface="Arial"/>
                        </a:rPr>
                        <a:t>Confirmer les OT termines (statut CONF).</a:t>
                      </a:r>
                    </a:p>
                  </a:txBody>
                  <a:tcPr anchor="ctr" marL="18288" marR="18288" marT="0" marB="0">
                    <a:solidFill>
                      <a:srgbClr val="FFFFFF"/>
                    </a:solidFill>
                  </a:tcPr>
                </a:tc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680" b="0">
                          <a:solidFill>
                            <a:srgbClr val="1E293B"/>
                          </a:solidFill>
                          <a:latin typeface="Arial"/>
                        </a:rPr>
                        <a:t>OT planification 1mois&lt; &lt;3mois</a:t>
                      </a:r>
                    </a:p>
                  </a:txBody>
                  <a:tcPr anchor="ctr"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80" b="1">
                          <a:solidFill>
                            <a:srgbClr val="10B981"/>
                          </a:solidFill>
                          <a:latin typeface="Arial"/>
                        </a:rPr>
                        <a:t>+13.3%</a:t>
                      </a:r>
                    </a:p>
                  </a:txBody>
                  <a:tcPr anchor="ctr"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Arial"/>
                        </a:rPr>
                        <a:t>Non</a:t>
                      </a:r>
                    </a:p>
                  </a:txBody>
                  <a:tcPr anchor="ctr" marL="18288" marR="18288" marT="0" marB="0">
                    <a:solidFill>
                      <a:srgbClr val="10B98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60" b="0">
                          <a:solidFill>
                            <a:srgbClr val="1E293B"/>
                          </a:solidFill>
                          <a:latin typeface="Arial"/>
                        </a:rPr>
                        <a:t>Planificateur BM</a:t>
                      </a:r>
                    </a:p>
                  </a:txBody>
                  <a:tcPr anchor="ctr"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00" b="0">
                          <a:solidFill>
                            <a:srgbClr val="64748B"/>
                          </a:solidFill>
                          <a:latin typeface="Arial"/>
                        </a:rPr>
                        <a:t>Reduire les OT en planification entre 1 et 3 mois.</a:t>
                      </a:r>
                    </a:p>
                  </a:txBody>
                  <a:tcPr anchor="ctr"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