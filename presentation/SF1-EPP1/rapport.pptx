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Sheet1!$A$2:$A$6</c:f>
              <c:strCache>
                <c:ptCount val="5"/>
                <c:pt idx="0">
                  <c:v>Perf. Systématiques</c:v>
                </c:pt>
                <c:pt idx="1">
                  <c:v>OT Coût Égal</c:v>
                </c:pt>
                <c:pt idx="2">
                  <c:v>Exéc. 1-3 mois</c:v>
                </c:pt>
                <c:pt idx="3">
                  <c:v>Approb. Avis</c:v>
                </c:pt>
                <c:pt idx="4">
                  <c:v>Perf. Inspection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19</c:v>
                </c:pt>
                <c:pt idx="2">
                  <c:v>23</c:v>
                </c:pt>
                <c:pt idx="3">
                  <c:v>24</c:v>
                </c:pt>
                <c:pt idx="4">
                  <c:v>339</c:v>
                </c:pt>
              </c:numCache>
            </c:numRef>
          </c:val>
        </c:ser>
        <c:dLbls>
          <c:txPr>
            <a:bodyPr/>
            <a:lstStyle/>
            <a:p>
              <a:pPr>
                <a:defRPr sz="680">
                  <a:solidFill>
                    <a:srgbClr val="1E293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680">
                <a:solidFill>
                  <a:srgbClr val="1E293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SF1-EPP1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Arial"/>
              </a:rPr>
              <a:t>Rapport KPI Performance &amp; Qualité — SAP PM OCP  •  14/08/2026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05256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Arial"/>
              </a:rPr>
              <a:t>Généré automatiquement depuis l'application https://tableaubordmc.streamlit.app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18872"/>
            <a:ext cx="1874519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5544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rial"/>
              </a:rPr>
              <a:t>SCORE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8232" y="3474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Arial"/>
              </a:rPr>
              <a:t>92.3%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18872"/>
            <a:ext cx="1874519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5544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rial"/>
              </a:rPr>
              <a:t>SCORE QUALITÉ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3474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F4444"/>
                </a:solidFill>
                <a:latin typeface="Arial"/>
              </a:rPr>
              <a:t>75.0%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118872"/>
            <a:ext cx="1874519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60152" y="15544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rial"/>
              </a:rPr>
              <a:t>ANOMALIES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0152" y="3474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F4444"/>
                </a:solidFill>
                <a:latin typeface="Arial"/>
              </a:rPr>
              <a:t>422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1024128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Arial"/>
              </a:rPr>
              <a:t>INDICATEURS DE PERFORMANCE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20040" y="1261872"/>
          <a:ext cx="3794758" cy="2368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0436"/>
                <a:gridCol w="607161"/>
                <a:gridCol w="607161"/>
              </a:tblGrid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Indicateur</a:t>
                      </a:r>
                    </a:p>
                  </a:txBody>
                  <a:tcPr anchor="ctr" marL="18288" marR="18288" marT="0" marB="0"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Val.</a:t>
                      </a:r>
                    </a:p>
                  </a:txBody>
                  <a:tcPr anchor="ctr" marL="18288" marR="18288" marT="0" marB="0"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Cible</a:t>
                      </a:r>
                    </a:p>
                  </a:txBody>
                  <a:tcPr anchor="ctr" marL="18288" marR="18288" marT="0" marB="0">
                    <a:solidFill>
                      <a:srgbClr val="059669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TAUX_REALISATION_CORRECTIF/PT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≥85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préparation &lt;1 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≥80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préparation 1mois&lt; &lt;3mois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≤15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préparation &gt;3 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≤5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planification &lt;1 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≥80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planification 1mois&lt; &lt;3mois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≤15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planification &gt;3 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≤5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exécution &lt;1 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94%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≥80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exécution 1mois&lt; &lt;3mois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≤15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exécution &gt;3 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≤5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Performance Graissage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≥95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Performance Inspection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84%</a:t>
                      </a:r>
                    </a:p>
                  </a:txBody>
                  <a:tcPr anchor="ctr" marL="18288" marR="18288" marT="0" marB="0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≥95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Performance Systématiques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98%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≥85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297680" y="1024128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rial"/>
              </a:rPr>
              <a:t>INDICATEURS DE QUALITÉ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297680" y="1261872"/>
          <a:ext cx="3794758" cy="1522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0436"/>
                <a:gridCol w="607161"/>
                <a:gridCol w="607161"/>
              </a:tblGrid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Indicateur</a:t>
                      </a:r>
                    </a:p>
                  </a:txBody>
                  <a:tcPr anchor="ctr" marL="18288" marR="18288" marT="0" marB="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Val.</a:t>
                      </a:r>
                    </a:p>
                  </a:txBody>
                  <a:tcPr anchor="ctr" marL="18288" marR="18288" marT="0" marB="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Cible</a:t>
                      </a:r>
                    </a:p>
                  </a:txBody>
                  <a:tcPr anchor="ctr" marL="18288" marR="18288" marT="0" marB="0">
                    <a:solidFill>
                      <a:srgbClr val="2563EB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Taux d'approbation des Avis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anchor="ctr" marL="18288" marR="18288" marT="0" marB="0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≥95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LANC ESTIME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≥100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Backlog préparation caractérisé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≥100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Backlog planification caractérisé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≥100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CONFIME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≥100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OT_COR_EGAL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anchor="ctr" marL="18288" marR="18288" marT="0" marB="0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≥100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Fiabilité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≥100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Total Avis de Panne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≥100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366760" y="1024128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rial"/>
              </a:rPr>
              <a:t>ANOMALIES PAR INDICATEUR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8366760" y="1261872"/>
          <a:ext cx="352044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366760" y="4663440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Arial"/>
              </a:rPr>
              <a:t>SUIVI D'ÉVOLUTION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4892040"/>
            <a:ext cx="3520440" cy="1691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4983480"/>
            <a:ext cx="3291840" cy="1508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  </a:t>
            </a:r>
            <a:r>
              <a:rPr sz="1000" b="1">
                <a:solidFill>
                  <a:srgbClr val="1E293B"/>
                </a:solidFill>
                <a:latin typeface="Arial"/>
              </a:rPr>
              <a:t>Performance : 92.3%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●  </a:t>
            </a:r>
            <a:r>
              <a:rPr sz="1000" b="1">
                <a:solidFill>
                  <a:srgbClr val="1E293B"/>
                </a:solidFill>
                <a:latin typeface="Arial"/>
              </a:rPr>
              <a:t>Qualité : 75.0%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EF4444"/>
                </a:solidFill>
                <a:latin typeface="Arial"/>
              </a:rPr>
              <a:t>●  </a:t>
            </a:r>
            <a:r>
              <a:rPr sz="1000" b="1">
                <a:solidFill>
                  <a:srgbClr val="1E293B"/>
                </a:solidFill>
                <a:latin typeface="Arial"/>
              </a:rPr>
              <a:t>Anomalies : 422</a:t>
            </a:r>
          </a:p>
          <a:p>
            <a:pPr>
              <a:spcAft>
                <a:spcPts val="400"/>
              </a:spcAft>
            </a:pPr>
            <a:r>
              <a:rPr sz="600" b="0">
                <a:solidFill>
                  <a:srgbClr val="1E293B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 seule date enregistrée — tendance disponible dès la 2e extraction.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1605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Arial"/>
              </a:rPr>
              <a:t>PLAN D'ACTION — TOUS LES INDICATEURS EN ANOMALIE (5)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4407408"/>
          <a:ext cx="7772400" cy="1014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48640"/>
                <a:gridCol w="777240"/>
                <a:gridCol w="960120"/>
                <a:gridCol w="3657600"/>
              </a:tblGrid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Indicateur</a:t>
                      </a:r>
                    </a:p>
                  </a:txBody>
                  <a:tcPr anchor="ctr" marL="18288" marR="18288"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Écart</a:t>
                      </a:r>
                    </a:p>
                  </a:txBody>
                  <a:tcPr anchor="ctr" marL="18288" marR="18288"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Nécessité action</a:t>
                      </a:r>
                    </a:p>
                  </a:txBody>
                  <a:tcPr anchor="ctr" marL="18288" marR="18288"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Responsable</a:t>
                      </a:r>
                    </a:p>
                  </a:txBody>
                  <a:tcPr anchor="ctr" marL="18288" marR="18288"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anchor="ctr" marL="18288" marR="18288" marT="0" marB="0">
                    <a:solidFill>
                      <a:srgbClr val="1E3A5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E293B"/>
                          </a:solidFill>
                          <a:latin typeface="Arial"/>
                        </a:rPr>
                        <a:t>Performance Inspection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EF4444"/>
                          </a:solidFill>
                          <a:latin typeface="Arial"/>
                        </a:rPr>
                        <a:t>-10.9%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Oui</a:t>
                      </a:r>
                    </a:p>
                  </a:txBody>
                  <a:tcPr anchor="ctr" marL="18288" marR="18288" marT="0" marB="0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Arial"/>
                        </a:rPr>
                        <a:t>Chef d'atelier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64748B"/>
                          </a:solidFill>
                          <a:latin typeface="Arial"/>
                        </a:rPr>
                        <a:t>Ameliorer le taux de realisation des OT d inspection (TW=290/300/310).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E293B"/>
                          </a:solidFill>
                          <a:latin typeface="Arial"/>
                        </a:rPr>
                        <a:t>Taux d'approbation des Avis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EF4444"/>
                          </a:solidFill>
                          <a:latin typeface="Arial"/>
                        </a:rPr>
                        <a:t>-7.5%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Oui</a:t>
                      </a:r>
                    </a:p>
                  </a:txBody>
                  <a:tcPr anchor="ctr" marL="18288" marR="18288" marT="0" marB="0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Arial"/>
                        </a:rPr>
                        <a:t>Chef d'atelier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64748B"/>
                          </a:solidFill>
                          <a:latin typeface="Arial"/>
                        </a:rPr>
                        <a:t>Approuver les avis en attente (statut APRQ).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E293B"/>
                          </a:solidFill>
                          <a:latin typeface="Arial"/>
                        </a:rPr>
                        <a:t>OT exécution 1mois&lt; &lt;3mois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10B981"/>
                          </a:solidFill>
                          <a:latin typeface="Arial"/>
                        </a:rPr>
                        <a:t>+8.5%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Non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Arial"/>
                        </a:rPr>
                        <a:t>Chef d'atelier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64748B"/>
                          </a:solidFill>
                          <a:latin typeface="Arial"/>
                        </a:rPr>
                        <a:t>Reduire les OT en execution entre 1 et 3 mois.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E293B"/>
                          </a:solidFill>
                          <a:latin typeface="Arial"/>
                        </a:rPr>
                        <a:t>OT_COR_EGAL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EF4444"/>
                          </a:solidFill>
                          <a:latin typeface="Arial"/>
                        </a:rPr>
                        <a:t>-17.6%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Oui</a:t>
                      </a:r>
                    </a:p>
                  </a:txBody>
                  <a:tcPr anchor="ctr" marL="18288" marR="18288" marT="0" marB="0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Arial"/>
                        </a:rPr>
                        <a:t>Agent de saisie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64748B"/>
                          </a:solidFill>
                          <a:latin typeface="Arial"/>
                        </a:rPr>
                        <a:t>Verifier l imputation des couts reels des OT correctifs.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E293B"/>
                          </a:solidFill>
                          <a:latin typeface="Arial"/>
                        </a:rPr>
                        <a:t>Performance Systématiques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10B981"/>
                          </a:solidFill>
                          <a:latin typeface="Arial"/>
                        </a:rPr>
                        <a:t>+13.4%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Non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Arial"/>
                        </a:rPr>
                        <a:t>Chef d'atelier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64748B"/>
                          </a:solidFill>
                          <a:latin typeface="Arial"/>
                        </a:rPr>
                        <a:t>Ameliorer le taux de realisation des appels systematiques (TW=360).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